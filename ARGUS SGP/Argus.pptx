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embeddedFontLst>
    <p:embeddedFont>
      <p:font typeface="Inter Bold" panose="02000503000000020004" pitchFamily="34" charset="0"/>
      <p:bold r:id="rId15"/>
    </p:embeddedFont>
    <p:embeddedFont>
      <p:font typeface="Inter Bold" panose="02000503000000020004" pitchFamily="34" charset="-122"/>
      <p:bold r:id="rId16"/>
    </p:embeddedFont>
    <p:embeddedFont>
      <p:font typeface="Inter Bold" panose="02000503000000020004" pitchFamily="34" charset="-120"/>
      <p:bold r:id="rId17"/>
    </p:embeddedFont>
    <p:embeddedFont>
      <p:font typeface="Inter" panose="02000503000000020004" pitchFamily="34" charset="0"/>
      <p:regular r:id="rId18"/>
    </p:embeddedFont>
    <p:embeddedFont>
      <p:font typeface="Inter" panose="02000503000000020004" pitchFamily="34" charset="-122"/>
      <p:regular r:id="rId19"/>
    </p:embeddedFont>
    <p:embeddedFont>
      <p:font typeface="Inter" panose="02000503000000020004" pitchFamily="34" charset="-12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035"/>
            <a:ext cx="8151763" cy="3573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50" b="1" kern="0" spc="-6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Argus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67519" y="916186"/>
            <a:ext cx="8608963" cy="1758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Human Verification and Digital Trust Platform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39143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272525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96119" y="1519089"/>
            <a:ext cx="1581373" cy="173757"/>
          </a:xfrm>
          <a:prstGeom prst="roundRect">
            <a:avLst>
              <a:gd name="adj" fmla="val 22113"/>
            </a:avLst>
          </a:prstGeom>
          <a:solidFill>
            <a:srgbClr val="DADBF1"/>
          </a:solidFill>
        </p:spPr>
      </p:sp>
      <p:sp>
        <p:nvSpPr>
          <p:cNvPr id="6" name="Text 4"/>
          <p:cNvSpPr/>
          <p:nvPr/>
        </p:nvSpPr>
        <p:spPr>
          <a:xfrm>
            <a:off x="564728" y="1553394"/>
            <a:ext cx="1901354" cy="1051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STUDENT GROUP PROJECT (SGP)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1734964"/>
            <a:ext cx="3936429" cy="178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2212181"/>
            <a:ext cx="3936429" cy="14288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9" name="Text 7"/>
          <p:cNvSpPr/>
          <p:nvPr/>
        </p:nvSpPr>
        <p:spPr>
          <a:xfrm>
            <a:off x="496119" y="2297906"/>
            <a:ext cx="3936429" cy="178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00E5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Shafin Nigamana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2581945"/>
            <a:ext cx="3936429" cy="1758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6119" y="3128888"/>
            <a:ext cx="3936429" cy="14288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2" name="Text 10"/>
          <p:cNvSpPr/>
          <p:nvPr/>
        </p:nvSpPr>
        <p:spPr>
          <a:xfrm>
            <a:off x="496119" y="3214613"/>
            <a:ext cx="3936429" cy="178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Chaitanya Thakkar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498652"/>
            <a:ext cx="3936429" cy="1758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6119" y="4045595"/>
            <a:ext cx="3936429" cy="14288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5" name="Text 13"/>
          <p:cNvSpPr/>
          <p:nvPr/>
        </p:nvSpPr>
        <p:spPr>
          <a:xfrm>
            <a:off x="496119" y="4131320"/>
            <a:ext cx="3936429" cy="178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Hetavi Subagiya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415358"/>
            <a:ext cx="3936429" cy="1758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6214" y="1505917"/>
            <a:ext cx="3936429" cy="178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87739" y="1898005"/>
            <a:ext cx="3764905" cy="351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Mr. Sudheesh Patel</a:t>
            </a:r>
            <a:endParaRPr lang="en-US" sz="900" dirty="0"/>
          </a:p>
          <a:p>
            <a:pPr marL="0" indent="0" algn="l">
              <a:lnSpc>
                <a:spcPct val="128000"/>
              </a:lnSpc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16214" y="1803127"/>
            <a:ext cx="14288" cy="541437"/>
          </a:xfrm>
          <a:prstGeom prst="roundRect">
            <a:avLst>
              <a:gd name="adj" fmla="val 49998"/>
            </a:avLst>
          </a:prstGeom>
          <a:solidFill>
            <a:srgbClr val="4950BC"/>
          </a:solidFill>
        </p:spPr>
      </p:sp>
      <p:sp>
        <p:nvSpPr>
          <p:cNvPr id="20" name="Text 18"/>
          <p:cNvSpPr/>
          <p:nvPr/>
        </p:nvSpPr>
        <p:spPr>
          <a:xfrm>
            <a:off x="4716214" y="2463105"/>
            <a:ext cx="3936429" cy="178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6214" y="2747144"/>
            <a:ext cx="3936429" cy="7033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6043"/>
            <a:ext cx="1085850" cy="170855"/>
          </a:xfrm>
          <a:prstGeom prst="roundRect">
            <a:avLst>
              <a:gd name="adj" fmla="val 22108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3538" y="399752"/>
            <a:ext cx="1408212" cy="1034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kern="0" spc="-18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77602"/>
            <a:ext cx="8151763" cy="3513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6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The Gap in Traditional Authentication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5156" y="1081683"/>
            <a:ext cx="4100661" cy="2988618"/>
          </a:xfrm>
          <a:prstGeom prst="roundRect">
            <a:avLst>
              <a:gd name="adj" fmla="val 2708"/>
            </a:avLst>
          </a:prstGeom>
          <a:solidFill>
            <a:srgbClr val="00E5FF"/>
          </a:solidFill>
        </p:spPr>
      </p:sp>
      <p:sp>
        <p:nvSpPr>
          <p:cNvPr id="6" name="Text 4"/>
          <p:cNvSpPr/>
          <p:nvPr/>
        </p:nvSpPr>
        <p:spPr>
          <a:xfrm>
            <a:off x="527521" y="1183556"/>
            <a:ext cx="3875931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What Current Systems Verify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9640" y="1477231"/>
            <a:ext cx="168622" cy="1686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2820" y="1473771"/>
            <a:ext cx="3510632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Identity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2820" y="1751261"/>
            <a:ext cx="3510632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Username and account credentials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9640" y="2129917"/>
            <a:ext cx="168622" cy="1686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2820" y="2126456"/>
            <a:ext cx="3510632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92820" y="2403946"/>
            <a:ext cx="3510632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Passwords, tokens, and certificates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713908" y="1183556"/>
            <a:ext cx="3938736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What Current Systems Cannot Always Verify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908" y="1473771"/>
            <a:ext cx="3938736" cy="8736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97710" y="1600423"/>
            <a:ext cx="3628281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Human Presence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97710" y="1877913"/>
            <a:ext cx="362828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Genuine user at authentication time — not an automated agent or replay</a:t>
            </a:r>
            <a:endParaRPr lang="en-US" sz="8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3908" y="2449339"/>
            <a:ext cx="3938736" cy="70224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97710" y="2575992"/>
            <a:ext cx="3628281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Replay Attack Resistance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97710" y="2853482"/>
            <a:ext cx="3628281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Protection against recorded or synthesized credential re-use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3908" y="3253457"/>
            <a:ext cx="3938736" cy="70224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97710" y="3380110"/>
            <a:ext cx="3628281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AI Impersonation Resistance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897710" y="3657600"/>
            <a:ext cx="3628281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Defense against AI-assisted spoofing and deepfake-class attacks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496119" y="4184898"/>
            <a:ext cx="8151763" cy="592559"/>
          </a:xfrm>
          <a:prstGeom prst="roundRect">
            <a:avLst>
              <a:gd name="adj" fmla="val 7968"/>
            </a:avLst>
          </a:prstGeom>
          <a:solidFill>
            <a:srgbClr val="DADBF1"/>
          </a:solidFill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484" y="4330750"/>
            <a:ext cx="140494" cy="11236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1343" y="4314825"/>
            <a:ext cx="7674173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Requirement:</a:t>
            </a:r>
            <a:r>
              <a:rPr lang="en-US" sz="850" kern="0" spc="-18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 multi-layer human verification platform that combines physiological, behavioral, and challenge-response signals to establish digital trust — beyond what credential-based systems alone can achieve.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2648"/>
            <a:ext cx="1260946" cy="176585"/>
          </a:xfrm>
          <a:prstGeom prst="roundRect">
            <a:avLst>
              <a:gd name="adj" fmla="val 22128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5845" y="387474"/>
            <a:ext cx="1578694" cy="106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kern="0" spc="-18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TECHNICAL FOUNDATION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72839"/>
            <a:ext cx="8151763" cy="3633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kern="0" spc="-6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Understanding rPPG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208708"/>
            <a:ext cx="4355753" cy="181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Remote Photoplethysmography (rPPG)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1499369"/>
            <a:ext cx="4355753" cy="5406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Non-contact measurement of heart rate derived from subtle skin color variations captured on video. Blood volume changes under the skin modulate reflected ambient light, which a standard camera can detect and quantify.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119" y="2149078"/>
            <a:ext cx="4355753" cy="181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Signal Processing Pipeline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53357"/>
            <a:ext cx="4355753" cy="18782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9231" y="3975449"/>
            <a:ext cx="988165" cy="123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Extract RGB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89231" y="3540657"/>
            <a:ext cx="988165" cy="123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Extract ROI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89231" y="3110256"/>
            <a:ext cx="988165" cy="123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Detect Face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89231" y="2675463"/>
            <a:ext cx="988165" cy="123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kern="0" spc="-2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Capture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140300" y="1208708"/>
            <a:ext cx="3512269" cy="181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Role Within Argus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40300" y="1512987"/>
            <a:ext cx="3512269" cy="975122"/>
          </a:xfrm>
          <a:prstGeom prst="roundRect">
            <a:avLst>
              <a:gd name="adj" fmla="val 5009"/>
            </a:avLst>
          </a:prstGeom>
          <a:solidFill>
            <a:srgbClr val="DADBF1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535" y="1677888"/>
            <a:ext cx="145331" cy="1162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18100" y="1640086"/>
            <a:ext cx="3018234" cy="7209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kern="0" spc="-1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Important scope clarification:</a:t>
            </a:r>
            <a:r>
              <a:rPr lang="en-US" sz="900" kern="0" spc="-18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rPPG is </a:t>
            </a:r>
            <a:r>
              <a:rPr lang="en-US" sz="900" b="1" kern="0" spc="-1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one physiological verification signal</a:t>
            </a:r>
            <a:r>
              <a:rPr lang="en-US" sz="900" kern="0" spc="-18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It contributes physiological evidence to the multi-layer framework — it does not verify human presence in isolation.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140300" y="2610743"/>
            <a:ext cx="3512269" cy="181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Signal Characteristics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140300" y="2915022"/>
            <a:ext cx="1701626" cy="912168"/>
          </a:xfrm>
          <a:prstGeom prst="roundRect">
            <a:avLst>
              <a:gd name="adj" fmla="val 535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70822" y="3045544"/>
            <a:ext cx="1440582" cy="181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Input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270822" y="3336206"/>
            <a:ext cx="1440582" cy="180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Standard RGB video feed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950943" y="2915022"/>
            <a:ext cx="1701626" cy="912168"/>
          </a:xfrm>
          <a:prstGeom prst="roundRect">
            <a:avLst>
              <a:gd name="adj" fmla="val 535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81465" y="3045544"/>
            <a:ext cx="1440582" cy="181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ROI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081465" y="3336206"/>
            <a:ext cx="1440582" cy="3604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Forehead and cheek regions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140300" y="3936206"/>
            <a:ext cx="3512269" cy="731937"/>
          </a:xfrm>
          <a:prstGeom prst="roundRect">
            <a:avLst>
              <a:gd name="adj" fmla="val 6673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70822" y="4066729"/>
            <a:ext cx="3251225" cy="181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270822" y="4357390"/>
            <a:ext cx="3251225" cy="1802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Estimated heart rate (BPM)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114"/>
            <a:ext cx="590773" cy="94283"/>
          </a:xfrm>
          <a:prstGeom prst="roundRect">
            <a:avLst>
              <a:gd name="adj" fmla="val 2210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326" y="359718"/>
            <a:ext cx="973559" cy="57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0" kern="0" spc="-10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PROPOSED SOLUTION</a:t>
            </a:r>
            <a:endParaRPr lang="en-US" sz="350" dirty="0"/>
          </a:p>
        </p:txBody>
      </p:sp>
      <p:sp>
        <p:nvSpPr>
          <p:cNvPr id="4" name="Text 2"/>
          <p:cNvSpPr/>
          <p:nvPr/>
        </p:nvSpPr>
        <p:spPr>
          <a:xfrm>
            <a:off x="496119" y="447749"/>
            <a:ext cx="815176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Argus Multi-Layer Verification Framework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8107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868689"/>
            <a:ext cx="4000277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kern="0" spc="-1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Layer Descriptions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496119" y="5000402"/>
            <a:ext cx="4000277" cy="633933"/>
          </a:xfrm>
          <a:prstGeom prst="roundRect">
            <a:avLst>
              <a:gd name="adj" fmla="val 41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6119" y="5128617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496119" y="5254451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96119" y="5380286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496119" y="5506120"/>
            <a:ext cx="4000277" cy="4763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563389" y="5028530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kern="0" spc="-10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Layer</a:t>
            </a:r>
            <a:endParaRPr lang="en-US" sz="450" dirty="0"/>
          </a:p>
        </p:txBody>
      </p:sp>
      <p:sp>
        <p:nvSpPr>
          <p:cNvPr id="13" name="Text 10"/>
          <p:cNvSpPr/>
          <p:nvPr/>
        </p:nvSpPr>
        <p:spPr>
          <a:xfrm>
            <a:off x="1893317" y="5028530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kern="0" spc="-10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Signal Type</a:t>
            </a:r>
            <a:endParaRPr lang="en-US" sz="450" dirty="0"/>
          </a:p>
        </p:txBody>
      </p:sp>
      <p:sp>
        <p:nvSpPr>
          <p:cNvPr id="14" name="Text 11"/>
          <p:cNvSpPr/>
          <p:nvPr/>
        </p:nvSpPr>
        <p:spPr>
          <a:xfrm>
            <a:off x="3223245" y="5028530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b="1" kern="0" spc="-10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Examples</a:t>
            </a:r>
            <a:endParaRPr lang="en-US" sz="450" dirty="0"/>
          </a:p>
        </p:txBody>
      </p:sp>
      <p:sp>
        <p:nvSpPr>
          <p:cNvPr id="15" name="Text 12"/>
          <p:cNvSpPr/>
          <p:nvPr/>
        </p:nvSpPr>
        <p:spPr>
          <a:xfrm>
            <a:off x="563389" y="5154364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00E5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Physiological</a:t>
            </a:r>
            <a:endParaRPr lang="en-US" sz="450" dirty="0"/>
          </a:p>
        </p:txBody>
      </p:sp>
      <p:sp>
        <p:nvSpPr>
          <p:cNvPr id="16" name="Text 13"/>
          <p:cNvSpPr/>
          <p:nvPr/>
        </p:nvSpPr>
        <p:spPr>
          <a:xfrm>
            <a:off x="1893317" y="5154364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Biometric</a:t>
            </a:r>
            <a:endParaRPr lang="en-US" sz="450" dirty="0"/>
          </a:p>
        </p:txBody>
      </p:sp>
      <p:sp>
        <p:nvSpPr>
          <p:cNvPr id="17" name="Text 14"/>
          <p:cNvSpPr/>
          <p:nvPr/>
        </p:nvSpPr>
        <p:spPr>
          <a:xfrm>
            <a:off x="3223245" y="5154364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rPPG, vital sign indicators</a:t>
            </a:r>
            <a:endParaRPr lang="en-US" sz="450" dirty="0"/>
          </a:p>
        </p:txBody>
      </p:sp>
      <p:sp>
        <p:nvSpPr>
          <p:cNvPr id="18" name="Text 15"/>
          <p:cNvSpPr/>
          <p:nvPr/>
        </p:nvSpPr>
        <p:spPr>
          <a:xfrm>
            <a:off x="563389" y="5280199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7C4D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Behavioral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1893317" y="5280199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Interaction patterns</a:t>
            </a:r>
            <a:endParaRPr lang="en-US" sz="450" dirty="0"/>
          </a:p>
        </p:txBody>
      </p:sp>
      <p:sp>
        <p:nvSpPr>
          <p:cNvPr id="20" name="Text 17"/>
          <p:cNvSpPr/>
          <p:nvPr/>
        </p:nvSpPr>
        <p:spPr>
          <a:xfrm>
            <a:off x="3223245" y="5280199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Gaze, movement cadence</a:t>
            </a:r>
            <a:endParaRPr lang="en-US" sz="450" dirty="0"/>
          </a:p>
        </p:txBody>
      </p:sp>
      <p:sp>
        <p:nvSpPr>
          <p:cNvPr id="21" name="Text 18"/>
          <p:cNvSpPr/>
          <p:nvPr/>
        </p:nvSpPr>
        <p:spPr>
          <a:xfrm>
            <a:off x="563389" y="5406033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00E676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Challenge-Response</a:t>
            </a:r>
            <a:endParaRPr lang="en-US" sz="450" dirty="0"/>
          </a:p>
        </p:txBody>
      </p:sp>
      <p:sp>
        <p:nvSpPr>
          <p:cNvPr id="22" name="Text 19"/>
          <p:cNvSpPr/>
          <p:nvPr/>
        </p:nvSpPr>
        <p:spPr>
          <a:xfrm>
            <a:off x="1893317" y="5406033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Active liveness</a:t>
            </a:r>
            <a:endParaRPr lang="en-US" sz="450" dirty="0"/>
          </a:p>
        </p:txBody>
      </p:sp>
      <p:sp>
        <p:nvSpPr>
          <p:cNvPr id="23" name="Text 20"/>
          <p:cNvSpPr/>
          <p:nvPr/>
        </p:nvSpPr>
        <p:spPr>
          <a:xfrm>
            <a:off x="3223245" y="5406033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Prompted user actions</a:t>
            </a:r>
            <a:endParaRPr lang="en-US" sz="450" dirty="0"/>
          </a:p>
        </p:txBody>
      </p:sp>
      <p:sp>
        <p:nvSpPr>
          <p:cNvPr id="24" name="Text 21"/>
          <p:cNvSpPr/>
          <p:nvPr/>
        </p:nvSpPr>
        <p:spPr>
          <a:xfrm>
            <a:off x="563389" y="5531867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AI Confidence</a:t>
            </a:r>
            <a:endParaRPr lang="en-US" sz="450" dirty="0"/>
          </a:p>
        </p:txBody>
      </p:sp>
      <p:sp>
        <p:nvSpPr>
          <p:cNvPr id="25" name="Text 22"/>
          <p:cNvSpPr/>
          <p:nvPr/>
        </p:nvSpPr>
        <p:spPr>
          <a:xfrm>
            <a:off x="1893317" y="5531867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Signal quality</a:t>
            </a:r>
            <a:endParaRPr lang="en-US" sz="450" dirty="0"/>
          </a:p>
        </p:txBody>
      </p:sp>
      <p:sp>
        <p:nvSpPr>
          <p:cNvPr id="26" name="Text 23"/>
          <p:cNvSpPr/>
          <p:nvPr/>
        </p:nvSpPr>
        <p:spPr>
          <a:xfrm>
            <a:off x="3223245" y="5531867"/>
            <a:ext cx="166315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Noise assessment, confidence scores</a:t>
            </a:r>
            <a:endParaRPr lang="en-US" sz="450" dirty="0"/>
          </a:p>
        </p:txBody>
      </p:sp>
      <p:sp>
        <p:nvSpPr>
          <p:cNvPr id="27" name="Text 24"/>
          <p:cNvSpPr/>
          <p:nvPr/>
        </p:nvSpPr>
        <p:spPr>
          <a:xfrm>
            <a:off x="4652367" y="4868689"/>
            <a:ext cx="4000277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kern="0" spc="-1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Decision Logic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652367" y="4996532"/>
            <a:ext cx="4000277" cy="14867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verification decision is generated by combining multiple independent signals through a </a:t>
            </a:r>
            <a:r>
              <a:rPr lang="en-US" sz="450" kern="0" spc="-10" dirty="0">
                <a:solidFill>
                  <a:srgbClr val="00E5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decision fusion algorithm</a:t>
            </a:r>
            <a:r>
              <a:rPr lang="en-US" sz="450" kern="0" spc="-1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No single signal is authoritative — the framework is designed to be resilient to the failure or spoofing of any individual layer.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6244"/>
            <a:ext cx="1307902" cy="161851"/>
          </a:xfrm>
          <a:prstGeom prst="roundRect">
            <a:avLst>
              <a:gd name="adj" fmla="val 22130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0040" y="458167"/>
            <a:ext cx="1637258" cy="980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kern="0" spc="-17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EXISTING WORK &amp; RESEARCH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24706"/>
            <a:ext cx="8151763" cy="333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Foundation: What Has Been Completed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496119" y="1095152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6079" y="1115095"/>
            <a:ext cx="159841" cy="1998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7559" y="1131763"/>
            <a:ext cx="7820323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Prototype Study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559" y="1353220"/>
            <a:ext cx="7820323" cy="1585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kern="0" spc="-17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Studied the existing Argus prototype developed during the Google Solution Challenge — examining its architecture, feature set, and design decisions in detail.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96119" y="1695004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079" y="1714946"/>
            <a:ext cx="159841" cy="1998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7559" y="1731615"/>
            <a:ext cx="7820323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Architecture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7559" y="1953071"/>
            <a:ext cx="7820323" cy="1585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kern="0" spc="-17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Systematically analyzed prototype strengths, structural limitations, and gaps relative to the proposed multi-layer verification framework.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6119" y="2294855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079" y="2314798"/>
            <a:ext cx="159841" cy="1998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7559" y="2331467"/>
            <a:ext cx="7820323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59" y="2552923"/>
            <a:ext cx="7820323" cy="1585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kern="0" spc="-17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Conducted a structured literature review covering human verification approaches, rPPG signal processing, behavioral biometrics, and liveness detection methods.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6119" y="2894707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079" y="2914650"/>
            <a:ext cx="159841" cy="1998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59" y="2931319"/>
            <a:ext cx="7820323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Technology Evaluation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59" y="3152775"/>
            <a:ext cx="7820323" cy="1585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kern="0" spc="-17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Evaluated candidate technology stacks and frameworks against the project's scalability, modularity, and academic feasibility requirements.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6119" y="3494559"/>
            <a:ext cx="239837" cy="239837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079" y="3514502"/>
            <a:ext cx="159841" cy="1998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7559" y="3531171"/>
            <a:ext cx="7820323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3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Scope Redefinition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59" y="3752627"/>
            <a:ext cx="7820323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kern="0" spc="-17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Redefined the project scope for the SGP based on research findings — establishing clear boundaries between what was inherited from the Solution Challenge and what constitutes new engineering work.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6119" y="4172769"/>
            <a:ext cx="8151763" cy="544413"/>
          </a:xfrm>
          <a:prstGeom prst="roundRect">
            <a:avLst>
              <a:gd name="adj" fmla="val 8224"/>
            </a:avLst>
          </a:prstGeom>
          <a:solidFill>
            <a:srgbClr val="B6FCB8"/>
          </a:solidFill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79" y="4307309"/>
            <a:ext cx="133201" cy="10656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2442" y="4291013"/>
            <a:ext cx="7698879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b="1" kern="0" spc="-17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Outcome:</a:t>
            </a:r>
            <a:r>
              <a:rPr lang="en-US" sz="800" kern="0" spc="-17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Comprehensive understanding of the problem domain, existing solution landscape, and technical feasibility — providing a validated foundation for the proposed architecture.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4841"/>
            <a:ext cx="1115244" cy="170855"/>
          </a:xfrm>
          <a:prstGeom prst="roundRect">
            <a:avLst>
              <a:gd name="adj" fmla="val 22108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3538" y="428551"/>
            <a:ext cx="1437605" cy="1034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kern="0" spc="-18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TECHNICAL DECISIONS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06400"/>
            <a:ext cx="8151763" cy="3513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6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Platform Architecture &amp; 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6119" y="1110481"/>
            <a:ext cx="8151763" cy="2366665"/>
          </a:xfrm>
          <a:prstGeom prst="roundRect">
            <a:avLst>
              <a:gd name="adj" fmla="val 199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1420788"/>
            <a:ext cx="8151763" cy="7026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96119" y="1900163"/>
            <a:ext cx="8151763" cy="7026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96119" y="2208088"/>
            <a:ext cx="8151763" cy="7026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496119" y="2516014"/>
            <a:ext cx="8151763" cy="7026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96119" y="2995389"/>
            <a:ext cx="8151763" cy="7026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3215283" y="1110481"/>
            <a:ext cx="7026" cy="2366665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928792" y="1110481"/>
            <a:ext cx="7026" cy="2366665"/>
          </a:xfrm>
          <a:prstGeom prst="rect">
            <a:avLst/>
          </a:prstGeom>
          <a:solidFill>
            <a:srgbClr val="000000">
              <a:alpha val="8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01774" y="1115244"/>
            <a:ext cx="2713509" cy="305544"/>
          </a:xfrm>
          <a:custGeom>
            <a:avLst/>
            <a:gdLst/>
            <a:ahLst/>
            <a:cxnLst/>
            <a:rect l="l" t="t" r="r" b="b"/>
            <a:pathLst>
              <a:path w="2713509" h="305544">
                <a:moveTo>
                  <a:pt x="39346" y="0"/>
                </a:moveTo>
                <a:lnTo>
                  <a:pt x="2713509" y="0"/>
                </a:lnTo>
                <a:lnTo>
                  <a:pt x="2713509" y="305544"/>
                </a:lnTo>
                <a:lnTo>
                  <a:pt x="0" y="305544"/>
                </a:lnTo>
                <a:lnTo>
                  <a:pt x="0" y="39346"/>
                </a:lnTo>
                <a:arcTo wR="39346" hR="39346" stAng="10800000" swAng="5400000"/>
                <a:close/>
              </a:path>
            </a:pathLst>
          </a:custGeom>
          <a:solidFill>
            <a:srgbClr val="00E5FF"/>
          </a:solidFill>
        </p:spPr>
      </p:sp>
      <p:sp>
        <p:nvSpPr>
          <p:cNvPr id="14" name="Text 12"/>
          <p:cNvSpPr/>
          <p:nvPr/>
        </p:nvSpPr>
        <p:spPr>
          <a:xfrm>
            <a:off x="614139" y="1181100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Component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15283" y="1115244"/>
            <a:ext cx="2713509" cy="305544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16" name="Text 14"/>
          <p:cNvSpPr/>
          <p:nvPr/>
        </p:nvSpPr>
        <p:spPr>
          <a:xfrm>
            <a:off x="3330029" y="1181100"/>
            <a:ext cx="2941216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28792" y="1115244"/>
            <a:ext cx="2713509" cy="305544"/>
          </a:xfrm>
          <a:custGeom>
            <a:avLst/>
            <a:gdLst/>
            <a:ahLst/>
            <a:cxnLst/>
            <a:rect l="l" t="t" r="r" b="b"/>
            <a:pathLst>
              <a:path w="2713509" h="305544">
                <a:moveTo>
                  <a:pt x="0" y="0"/>
                </a:moveTo>
                <a:lnTo>
                  <a:pt x="2674163" y="0"/>
                </a:lnTo>
                <a:arcTo wR="39346" hR="39346" stAng="16200000" swAng="5400000"/>
                <a:lnTo>
                  <a:pt x="2713509" y="305544"/>
                </a:lnTo>
                <a:lnTo>
                  <a:pt x="0" y="305544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8" name="Text 16"/>
          <p:cNvSpPr/>
          <p:nvPr/>
        </p:nvSpPr>
        <p:spPr>
          <a:xfrm>
            <a:off x="6043538" y="1181100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Rationale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4139" y="1489025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Frontend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0029" y="1489025"/>
            <a:ext cx="2941216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Web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43538" y="1489025"/>
            <a:ext cx="2486397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Scalability, broad browser integration, dashboard support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4139" y="1968401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Backend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0029" y="1968401"/>
            <a:ext cx="2941216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Spring Boot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43538" y="1968401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Modular architecture, enterprise-grade reliability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4139" y="2276326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Database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0029" y="2276326"/>
            <a:ext cx="2941216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43538" y="2276326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Relational data model, full ACID compliance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4139" y="2584252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Architecture Pattern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0029" y="2584252"/>
            <a:ext cx="2941216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Modular Monolith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43538" y="2584252"/>
            <a:ext cx="2486397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Layered design with clear separation of concerns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4139" y="3063627"/>
            <a:ext cx="2943597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30029" y="3063627"/>
            <a:ext cx="2941216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Agile Scrum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43538" y="3063627"/>
            <a:ext cx="2486397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Iterative development with regular feedback cycles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6119" y="3693616"/>
            <a:ext cx="3938736" cy="175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Architectural Philosophy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119" y="3971106"/>
            <a:ext cx="393873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kern="0" spc="-18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modular monolith pattern was selected to balance engineering rigor with academic feasibility. Clear layer boundaries ensure that individual verification modules — physiological, behavioral, challenge-response — can be developed, tested, and replaced independently without coupling concerns.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13908" y="3706341"/>
            <a:ext cx="3938736" cy="753814"/>
          </a:xfrm>
          <a:prstGeom prst="roundRect">
            <a:avLst>
              <a:gd name="adj" fmla="val 6264"/>
            </a:avLst>
          </a:prstGeom>
          <a:solidFill>
            <a:srgbClr val="B6D6FC"/>
          </a:solidFill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273" y="3861718"/>
            <a:ext cx="140494" cy="112365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079132" y="3826073"/>
            <a:ext cx="3461147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kern="0" spc="-1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Future Module — Phase 4:</a:t>
            </a:r>
            <a:r>
              <a:rPr lang="en-US" sz="850" kern="0" spc="-18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 </a:t>
            </a:r>
            <a:r>
              <a:rPr lang="en-US" sz="850" b="1" kern="0" spc="-1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Chrome Extension</a:t>
            </a:r>
            <a:r>
              <a:rPr lang="en-US" sz="850" kern="0" spc="-18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is planned for Phase 4 after the core web platform has been completed and validated. It is not part of the initial implementation scope.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0234"/>
            <a:ext cx="1010841" cy="185514"/>
          </a:xfrm>
          <a:prstGeom prst="roundRect">
            <a:avLst>
              <a:gd name="adj" fmla="val 22116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9342" y="476845"/>
            <a:ext cx="1321594" cy="112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19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RISK &amp; MITIGATION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73819"/>
            <a:ext cx="8151763" cy="381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Challenges &amp; Proposed Solutions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35571"/>
            <a:ext cx="4015755" cy="15768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9595" y="1371898"/>
            <a:ext cx="3685952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E5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Lighting Conditions &amp; Signal Quality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9595" y="1634728"/>
            <a:ext cx="3685952" cy="1041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Challenge: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rPPG signal fidelity degrades under variable or poor ambient lighting conditions, reducing physiological layer reliability.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Proposed Solution: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Adaptive signal quality assessment and preprocessing pipeline to detect low-confidence conditions and flag or exclude affected frames before estimation.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2052" y="1235571"/>
            <a:ext cx="4015829" cy="15768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25529" y="1371898"/>
            <a:ext cx="3686026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7C4D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Platform Scalability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25529" y="1634728"/>
            <a:ext cx="3686026" cy="1041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Challenge: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Multi-signal verification introduces concurrent processing demands that must scale without architectural fragility.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Proposed Solution: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React web frontend with a modular Spring Boot backend — service boundaries designed for independent scaling of verification components.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932584"/>
            <a:ext cx="4015755" cy="17706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9595" y="3068910"/>
            <a:ext cx="3685952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E676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Multi-Signal Decision Fusion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89595" y="3331741"/>
            <a:ext cx="3685952" cy="12351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Challenge: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Combining heterogeneous verification signals (physiological, behavioral, challenge-response) into a single reliable decision requires a principled fusion approach.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Proposed Solution: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Research and develop a decision fusion algorithm drawing on established verification and signal combination techniques — to be defined during Phase 3.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052" y="2932584"/>
            <a:ext cx="4015829" cy="17706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25529" y="3068910"/>
            <a:ext cx="3686026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Cloud Dependency &amp; Vendor Lock-in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825529" y="3331741"/>
            <a:ext cx="3686026" cy="1041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Challenge: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Direct cloud service dependencies create operational risk and reduce deployment flexibility.</a:t>
            </a:r>
            <a:endParaRPr lang="en-US" sz="9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Proposed Solution:</a:t>
            </a:r>
            <a:r>
              <a:rPr lang="en-US" sz="950" kern="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Modular cloud deployment architecture with abstraction layers isolating vendor-specific integrations from core platform logic.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0015"/>
            <a:ext cx="785440" cy="13543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9548" y="386730"/>
            <a:ext cx="1135782" cy="82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14" dirty="0">
                <a:solidFill>
                  <a:srgbClr val="4950BC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PROJECT ROADMAP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21047"/>
            <a:ext cx="8151763" cy="278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Implementation Phases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95648"/>
            <a:ext cx="4075881" cy="356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67" y="1316310"/>
            <a:ext cx="3897585" cy="139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kern="0" spc="-2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Phase 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85267" y="1494011"/>
            <a:ext cx="3897585" cy="1225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b="1" kern="0" spc="-1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Planning &amp; Architecture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85267" y="1654969"/>
            <a:ext cx="3897585" cy="4124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Research &amp; literature review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Architecture design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Tech stack evaluation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85267" y="2139479"/>
            <a:ext cx="637729" cy="135434"/>
          </a:xfrm>
          <a:prstGeom prst="roundRect">
            <a:avLst>
              <a:gd name="adj" fmla="val 22119"/>
            </a:avLst>
          </a:prstGeom>
          <a:solidFill>
            <a:srgbClr val="DADBF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96" y="2171551"/>
            <a:ext cx="71289" cy="712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629" y="2166193"/>
            <a:ext cx="423937" cy="82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COMPLETED</a:t>
            </a:r>
            <a:endParaRPr lang="en-US" sz="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95648"/>
            <a:ext cx="4075881" cy="356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1148" y="1316310"/>
            <a:ext cx="3897585" cy="139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kern="0" spc="-2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Phase 2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4661148" y="1494011"/>
            <a:ext cx="3897585" cy="1225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b="1" kern="0" spc="-1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Core Platform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4661148" y="1654969"/>
            <a:ext cx="3897585" cy="5574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Frontend (React)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Backend (Spring Boot)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Database (PostgreSQL)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API design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364060"/>
            <a:ext cx="4075881" cy="356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267" y="2784723"/>
            <a:ext cx="3897585" cy="139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kern="0" spc="-2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Phase 3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585267" y="2962424"/>
            <a:ext cx="3897585" cy="1225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b="1" kern="0" spc="-1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Verification Engine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585267" y="3123381"/>
            <a:ext cx="3897585" cy="5574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rPPG pipeline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Behavioral analysis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Challenge-response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Decision fusion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364060"/>
            <a:ext cx="4075881" cy="356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61148" y="2784723"/>
            <a:ext cx="3897585" cy="139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kern="0" spc="-2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Phase 4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4661148" y="2962424"/>
            <a:ext cx="3897585" cy="1225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b="1" kern="0" spc="-1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Dashboard &amp; Extension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4661148" y="3123381"/>
            <a:ext cx="3897585" cy="5574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Admin dashboard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Testing &amp; QA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Deployment</a:t>
            </a:r>
            <a:endParaRPr lang="en-US" sz="700" dirty="0"/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Chrome Extension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96119" y="3864248"/>
            <a:ext cx="8151763" cy="9525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</p:spPr>
      </p:sp>
      <p:sp>
        <p:nvSpPr>
          <p:cNvPr id="25" name="Text 18"/>
          <p:cNvSpPr/>
          <p:nvPr/>
        </p:nvSpPr>
        <p:spPr>
          <a:xfrm>
            <a:off x="496119" y="4032126"/>
            <a:ext cx="3967163" cy="139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kern="0" spc="-26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Expected Outcome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496119" y="4235500"/>
            <a:ext cx="3967163" cy="490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kern="0" spc="-1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reusable human verification and digital trust platform with a modular architecture designed for integration into authentication systems. Each verification layer — physiological, behavioral, challenge-response — will be independently testable and replaceable, providing a practical foundation for future research and engineering extensions.</a:t>
            </a:r>
            <a:endParaRPr lang="en-US" sz="700" dirty="0"/>
          </a:p>
        </p:txBody>
      </p:sp>
      <p:sp>
        <p:nvSpPr>
          <p:cNvPr id="27" name="Shape 20"/>
          <p:cNvSpPr/>
          <p:nvPr/>
        </p:nvSpPr>
        <p:spPr>
          <a:xfrm>
            <a:off x="4685481" y="4040088"/>
            <a:ext cx="3967163" cy="527521"/>
          </a:xfrm>
          <a:prstGeom prst="roundRect">
            <a:avLst>
              <a:gd name="adj" fmla="val 7099"/>
            </a:avLst>
          </a:prstGeom>
          <a:solidFill>
            <a:srgbClr val="DADBF1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629" y="4138836"/>
            <a:ext cx="111398" cy="891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75175" y="4120009"/>
            <a:ext cx="3588321" cy="36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b="1" kern="0" spc="-1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Current Status:</a:t>
            </a:r>
            <a:r>
              <a:rPr lang="en-US" sz="700" kern="0" spc="-14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Phase 1 is complete. The team has established architecture, selected the technology stack, and validated technical feasibility through prototype analysis and literature review. Phase 2 development is the immediate next milestone.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6546</Words>
  <Application>WPS Presentation</Application>
  <PresentationFormat>On-screen Show (16:9)</PresentationFormat>
  <Paragraphs>284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Inter Bold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Shafin Nigamana</cp:lastModifiedBy>
  <cp:revision>2</cp:revision>
  <dcterms:created xsi:type="dcterms:W3CDTF">2026-08-08T03:37:00Z</dcterms:created>
  <dcterms:modified xsi:type="dcterms:W3CDTF">2026-08-08T03:39:19Z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E9E268A7911546B6AD60A6C80AC186A5_12</vt:lpwstr>
  </property>
  <property fmtid="{D5CDD505-2E9C-101B-9397-08002B2CF9AE}" pid="3" name="KSOProductBuildVer">
    <vt:lpwstr>1033-12.1.0.28032</vt:lpwstr>
  </property>
</Properties>
</file>